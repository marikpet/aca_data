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b91e001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b91e001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91e0013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b91e0013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b91e0013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b91e0013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c6f73a04f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c6f73a0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27087ef2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27087ef2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b91e0013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b91e0013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27087ef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27087ef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c6f73a04f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c6f73a04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spreadsheets/d/1v45lYKzfNFH8NaiMOcftDwS-fT6fH7KTFoxmh4HMGxA/edit?gid=0#gid=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Վարկածի ստուգում</a:t>
            </a:r>
            <a:endParaRPr b="1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26"/>
            <a:ext cx="8222100" cy="11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Կայքի այցելուների վարքագծի վրա Վեբ մարկետինգային արշավի ազդեցության գնահատում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Նախապատմություն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Գարնանը ը</a:t>
            </a:r>
            <a:r>
              <a:rPr lang="en">
                <a:solidFill>
                  <a:schemeClr val="dk2"/>
                </a:solidFill>
              </a:rPr>
              <a:t>նկերությունն իրականացրել է մարկետինգային արշավ վեբ կայքում այցելուների անցկացրած ժամանակը ավելացնելու նպատակով: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2025թ. հունիսին դիտարկվել է այցելուների անցկացրած ժամանակը կայքում` մարկետինգային արշավի արդյունավետությունը գնահատելու նպատակով: 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6095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Վարկածներ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4765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Կանխավարկած (Զրոյական վարկած`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H₀</a:t>
            </a:r>
            <a:r>
              <a:rPr b="1" lang="en">
                <a:solidFill>
                  <a:schemeClr val="dk2"/>
                </a:solidFill>
              </a:rPr>
              <a:t>)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Մարկետինգային արշավը էական ազդեցություն չի ունեցել: Այցելուները կայքում անցկացնում են նույնքան ժամանակ, որքան նախկինում: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Այլընտրանքային վարկած (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H₁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Մարկետինգային արշավը էական ազդեցություն է ունեցել կայքի այցելուների վարքագծի վրա: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Նրանք սկսել են ավելի շատ ժամանակ անցկացնել կայքում: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Քայլեր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6315900" cy="28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1. Բացահայտել զրոյական և այլընտրանքային վարկածները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2. Սահմանել նշանակալիության մակարդակի արժեք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3. Որոշել համապատասխան կրիտիկական արժեքը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4. Հաշվարկել համապատասխան թեստային վիճակագրությունը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5. Համեմատել թեստային վիճակագրությունը կրիտիկական միավորի հետ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Ձևակերպել եզրակացությունը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226075" y="158100"/>
            <a:ext cx="2808000" cy="8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Վարկածները`     թվերով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226075" y="1296425"/>
            <a:ext cx="2808000" cy="3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Կանխավարկածը համարում է, որ մինչև մարկետինգային արշավը այցելուների կայքում անցկացրած ժամանակի միջին տևողությունը չի փոխվել 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00"/>
              <a:t>Այլընտրանքային վարկածը ժխտում է կանխավարկածը:</a:t>
            </a:r>
            <a:endParaRPr sz="1300"/>
          </a:p>
        </p:txBody>
      </p:sp>
      <p:sp>
        <p:nvSpPr>
          <p:cNvPr id="93" name="Google Shape;93;p17"/>
          <p:cNvSpPr txBox="1"/>
          <p:nvPr/>
        </p:nvSpPr>
        <p:spPr>
          <a:xfrm>
            <a:off x="3720600" y="1433425"/>
            <a:ext cx="4258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  </a:t>
            </a:r>
            <a:r>
              <a:rPr b="1" baseline="30000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µ </a:t>
            </a: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= 120</a:t>
            </a:r>
            <a:endParaRPr b="1" sz="3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836550" y="3077675"/>
            <a:ext cx="3899700" cy="10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      µ </a:t>
            </a: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≠ 120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26075" y="137025"/>
            <a:ext cx="2808000" cy="117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Ընտրանքի չափը, ընտրանքի միջինը և ընտրանքի ստանդարտ շեղումը </a:t>
            </a:r>
            <a:endParaRPr sz="1800"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Ընտրանքի չափը / sample size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Ընտրանքի միջինը / sample mean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Ը</a:t>
            </a:r>
            <a:r>
              <a:rPr lang="en" sz="1500"/>
              <a:t>նտրանքի ստանդարտ շեղումը / sample standard deviation</a:t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4353000" y="1549375"/>
            <a:ext cx="27192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</a:t>
            </a:r>
            <a:r>
              <a:rPr b="1"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 = 81</a:t>
            </a:r>
            <a:endParaRPr b="1" sz="2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447875" y="2245000"/>
            <a:ext cx="38154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A0A0A"/>
                </a:solidFill>
                <a:highlight>
                  <a:srgbClr val="FFFFFF"/>
                </a:highlight>
              </a:rPr>
              <a:t>Sample Mean</a:t>
            </a:r>
            <a:r>
              <a:rPr b="1"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= 342</a:t>
            </a:r>
            <a:endParaRPr b="1"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122425" y="3109300"/>
            <a:ext cx="13596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 = 154</a:t>
            </a:r>
            <a:endParaRPr b="1"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3583475" y="4144250"/>
            <a:ext cx="53754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https://docs.google.com/spreadsheets/d/1v45lYKzfNFH8NaiMOcftDwS-fT6fH7KTFoxmh4HMGxA/edit?gid=0#gid=0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226075" y="220775"/>
            <a:ext cx="28080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Նշանակալիության մակարդակ և համապատասխան կրիտիկական արժեք</a:t>
            </a:r>
            <a:endParaRPr sz="1800"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226075" y="1739100"/>
            <a:ext cx="2808000" cy="3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Այս տվյալների համար ազդեցության նշանակալիության շեմը սահմանենք 95% վստահության միջակայքով: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0.05 նաշանակալիության մակարդակի դեպքում, երկպոչ թեստի պարագայում, որոշենք կրիտիկական արժեքը t-աղյուսակով / t-table ` ըստ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⍺-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ի և ազատության աստիճանի df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*df = n-1 = 80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3594125" y="1855025"/>
            <a:ext cx="41211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                       </a:t>
            </a:r>
            <a:r>
              <a:rPr b="1" lang="en" sz="2800">
                <a:solidFill>
                  <a:schemeClr val="dk2"/>
                </a:solidFill>
              </a:rPr>
              <a:t>⍺</a:t>
            </a: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= 0.05</a:t>
            </a:r>
            <a:r>
              <a:rPr lang="en"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3762775" y="220775"/>
            <a:ext cx="50169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Ընտրում ենք երկկողմ թեստի մոդել (</a:t>
            </a:r>
            <a:r>
              <a:rPr b="1" lang="en" sz="1650">
                <a:solidFill>
                  <a:schemeClr val="dk2"/>
                </a:solidFill>
              </a:rPr>
              <a:t>two-tails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), քանի որ մեր նպատակը կանխավարկածը հերքելն է.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3920875" y="3415550"/>
            <a:ext cx="36996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Critical value:  </a:t>
            </a:r>
            <a:r>
              <a:rPr b="1"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900">
                <a:solidFill>
                  <a:schemeClr val="dk2"/>
                </a:solidFill>
              </a:rPr>
              <a:t>⍺ </a:t>
            </a:r>
            <a:r>
              <a:rPr b="1" lang="en" sz="2400">
                <a:solidFill>
                  <a:schemeClr val="dk2"/>
                </a:solidFill>
              </a:rPr>
              <a:t>= 1.990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737800"/>
            <a:ext cx="8520600" cy="55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							</a:t>
            </a:r>
            <a:r>
              <a:rPr b="1" lang="en" sz="3200"/>
              <a:t>t</a:t>
            </a:r>
            <a:r>
              <a:rPr b="1" lang="en" sz="1800"/>
              <a:t>x  </a:t>
            </a:r>
            <a:r>
              <a:rPr b="1" lang="en" sz="2500"/>
              <a:t>= 13</a:t>
            </a:r>
            <a:endParaRPr b="1" sz="2500"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75500" y="3046075"/>
            <a:ext cx="8222100" cy="19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1180475" y="242425"/>
            <a:ext cx="6418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Հաշվենք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թեստային վիճակագրությունը / </a:t>
            </a:r>
            <a:r>
              <a:rPr lang="en" sz="1700">
                <a:solidFill>
                  <a:srgbClr val="343A4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test statistic</a:t>
            </a:r>
            <a:endParaRPr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1085625" y="1362763"/>
            <a:ext cx="671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Համեմատենք` </a:t>
            </a:r>
            <a:r>
              <a:rPr b="1"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-ը 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և կրիտիկական արժեքը` </a:t>
            </a:r>
            <a:r>
              <a:rPr b="1"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900">
                <a:solidFill>
                  <a:schemeClr val="dk2"/>
                </a:solidFill>
              </a:rPr>
              <a:t>⍺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2571750" y="1978375"/>
            <a:ext cx="3667800" cy="10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</a:t>
            </a:r>
            <a:r>
              <a:rPr b="1"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      </a:t>
            </a: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b="1"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900">
                <a:solidFill>
                  <a:schemeClr val="dk2"/>
                </a:solidFill>
              </a:rPr>
              <a:t>⍺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13   &gt;   1.990</a:t>
            </a:r>
            <a:endParaRPr b="1" sz="2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475500" y="3565825"/>
            <a:ext cx="82221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Հետևաբար մարկետինգային արշավն ազդել է կայքի այցելուների վարքագծի վրա: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599175" y="299600"/>
            <a:ext cx="78285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              Եզրակացություն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504875" y="1220125"/>
            <a:ext cx="82221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Այսպիսով. թեստի վիճակագրությունը (test statistic) նշանակալիորեն մեծ է կրիտիկական արժեքից, ուրեմն մեծ վստահությամբ կարող ենք հերքել կանխավարկածը` ասելով, որ կայքում այցելուների անցկացրած ժամանակի միջին տևողությունը 120 վրկ. չէ: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475500" y="84325"/>
            <a:ext cx="82221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Որոշելու համար, թե արդյո՞ք արշավի արդյունքում այցելուներն ավելի երկար են կայքում մնում` վարկածները կլինեն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="1"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 </a:t>
            </a:r>
            <a:r>
              <a:rPr b="1"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baseline="30000"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µ </a:t>
            </a:r>
            <a:r>
              <a:rPr b="1"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&lt;= 120, </a:t>
            </a:r>
            <a:endParaRPr b="1"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="1"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  </a:t>
            </a: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µ </a:t>
            </a:r>
            <a:r>
              <a:rPr b="1"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&gt; 120</a:t>
            </a:r>
            <a:endParaRPr b="1"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Այս դեպքում ընտրում ենք աջակողմյան թեստ (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right-tailed test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), այսինքն նշանակալի ազդեցության տարածքը աջից է (</a:t>
            </a:r>
            <a:r>
              <a:rPr b="1" lang="en" sz="1900">
                <a:solidFill>
                  <a:schemeClr val="dk2"/>
                </a:solidFill>
              </a:rPr>
              <a:t>⍺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): Կրիտիկական արժեքը փոխվում է.  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1.664</a:t>
            </a:r>
            <a:endParaRPr b="1"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Համեմատենք` </a:t>
            </a: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-ը  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և կրիտիկական արժեքը` </a:t>
            </a:r>
            <a:r>
              <a:rPr b="1"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800">
                <a:solidFill>
                  <a:schemeClr val="dk2"/>
                </a:solidFill>
              </a:rPr>
              <a:t>⍺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</a:t>
            </a:r>
            <a:r>
              <a:rPr b="1"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      </a:t>
            </a: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b="1"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900">
                <a:solidFill>
                  <a:schemeClr val="dk2"/>
                </a:solidFill>
              </a:rPr>
              <a:t>⍺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13   &gt;   1.664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475500" y="3565825"/>
            <a:ext cx="82221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Հետևաբար մարկետինգային արշավն արդյունավետ է եղել: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599175" y="299600"/>
            <a:ext cx="78285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              Եզրակացություն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504875" y="1220125"/>
            <a:ext cx="8222100" cy="19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Այսպիսով. թեստի վիճակագրությունը (test statistic) նշանակալիորեն մեծ է կրիտիկական արժեքից, ուրեմն մեծ վստահությամբ կարող ենք հերքել կանխավարկածը` ասելով, որ կայքում այցելուների անցկացրած ժամանակի միջին տևողությունը մեծացել է: 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490250" y="488250"/>
            <a:ext cx="7910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      Շնորհակալություն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