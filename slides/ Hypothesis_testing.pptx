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Robot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Robot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bold.fntdata"/><Relationship Id="rId6" Type="http://schemas.openxmlformats.org/officeDocument/2006/relationships/slide" Target="slides/slide1.xml"/><Relationship Id="rId18" Type="http://schemas.openxmlformats.org/officeDocument/2006/relationships/font" Target="fonts/Robo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c6f73a04f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c6f73a04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c6f73a04f_0_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c6f73a04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c6f73a04f_0_1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c6f73a04f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bb91e0013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bb91e0013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c6f73a04f_0_2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c6f73a04f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bb91e00137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bb91e00137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bb91e00137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bb91e00137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c6f73a04f_0_2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c6f73a04f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c27087ef2c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c27087ef2c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bb91e00137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bb91e00137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c27087ef2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c27087ef2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c6f73a04f_0_4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c6f73a04f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drive.google.com/drive/home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Վարկածի ստուգում</a:t>
            </a:r>
            <a:endParaRPr b="1"/>
          </a:p>
        </p:txBody>
      </p:sp>
      <p:sp>
        <p:nvSpPr>
          <p:cNvPr id="68" name="Google Shape;68;p13"/>
          <p:cNvSpPr txBox="1"/>
          <p:nvPr>
            <p:ph idx="1" type="subTitle"/>
          </p:nvPr>
        </p:nvSpPr>
        <p:spPr>
          <a:xfrm>
            <a:off x="390525" y="2789126"/>
            <a:ext cx="8222100" cy="112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Կայքի այցելուների վարքագծի վրա Վեբ մարկետինգային արշավի ազդեցության գնահատում</a:t>
            </a:r>
            <a:endParaRPr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Նախապատմություն</a:t>
            </a:r>
            <a:endParaRPr/>
          </a:p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Գարնանը ը</a:t>
            </a:r>
            <a:r>
              <a:rPr lang="en">
                <a:solidFill>
                  <a:schemeClr val="dk2"/>
                </a:solidFill>
              </a:rPr>
              <a:t>նկերությունն իրականացրել է մարկետինգային արշավ վեբ կայքում այցելուների անցկացրած ժամանակը ավելացնելու նպատակով: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br>
              <a:rPr lang="en">
                <a:solidFill>
                  <a:schemeClr val="dk2"/>
                </a:solidFill>
              </a:rPr>
            </a:br>
            <a:r>
              <a:rPr lang="en">
                <a:solidFill>
                  <a:schemeClr val="dk2"/>
                </a:solidFill>
              </a:rPr>
              <a:t>2025թ. հունիսին դիտարկվել է այցելուների անցկացրած ժամանակը կայքում` մարկետինգային արշավի արդյունավետությունը գնահատելու նպատակով:  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type="title"/>
          </p:nvPr>
        </p:nvSpPr>
        <p:spPr>
          <a:xfrm>
            <a:off x="46095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Վարկածներ</a:t>
            </a:r>
            <a:endParaRPr/>
          </a:p>
        </p:txBody>
      </p:sp>
      <p:sp>
        <p:nvSpPr>
          <p:cNvPr id="80" name="Google Shape;80;p15"/>
          <p:cNvSpPr txBox="1"/>
          <p:nvPr>
            <p:ph idx="1" type="body"/>
          </p:nvPr>
        </p:nvSpPr>
        <p:spPr>
          <a:xfrm>
            <a:off x="471900" y="1919075"/>
            <a:ext cx="84765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Կանխավարկած (Զրոյական վարկած` </a:t>
            </a: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H₀</a:t>
            </a:r>
            <a:r>
              <a:rPr b="1" lang="en">
                <a:solidFill>
                  <a:schemeClr val="dk2"/>
                </a:solidFill>
              </a:rPr>
              <a:t>)</a:t>
            </a:r>
            <a:endParaRPr b="1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Մարկետինգային արշավը էական ազդեցություն չի ունեցել: Այցելուները կայքում անցկացնում են նույնքան ժամանակ, որքան նախկինում: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Այլընտրանքային վարկած (</a:t>
            </a: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H₁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Մարկետինգային արշավը էական ազդեցություն է ունեցել կայքի այցելուների վարքագծի վրա:</a:t>
            </a:r>
            <a:b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Նրանք սկսել են ավելի շատ ժամանակ անցկացնել կայքում: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Քայլեր</a:t>
            </a:r>
            <a:endParaRPr/>
          </a:p>
        </p:txBody>
      </p:sp>
      <p:sp>
        <p:nvSpPr>
          <p:cNvPr id="86" name="Google Shape;86;p16"/>
          <p:cNvSpPr txBox="1"/>
          <p:nvPr>
            <p:ph idx="1" type="body"/>
          </p:nvPr>
        </p:nvSpPr>
        <p:spPr>
          <a:xfrm>
            <a:off x="471900" y="1919075"/>
            <a:ext cx="6315900" cy="289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1. Բացահայտել զրոյական և այլընտրանքային վարկածները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2. Սահմանել նշանակալիության մակարդակի արժեք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3. Որոշել համապատասխան կրիտիկական արժեքը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4. Հաշվարկել համապատասխան թեստային վիճակագրությունը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5. Համեմատել թեստային վիճակագրությունը կրիտիկական միավորի հետ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Ձևակերպել եզրակացությունը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type="title"/>
          </p:nvPr>
        </p:nvSpPr>
        <p:spPr>
          <a:xfrm>
            <a:off x="226075" y="158100"/>
            <a:ext cx="2808000" cy="87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Վարկածները`     թվերով</a:t>
            </a:r>
            <a:endParaRPr/>
          </a:p>
        </p:txBody>
      </p:sp>
      <p:sp>
        <p:nvSpPr>
          <p:cNvPr id="92" name="Google Shape;92;p17"/>
          <p:cNvSpPr txBox="1"/>
          <p:nvPr>
            <p:ph idx="1" type="body"/>
          </p:nvPr>
        </p:nvSpPr>
        <p:spPr>
          <a:xfrm>
            <a:off x="226075" y="1296425"/>
            <a:ext cx="2808000" cy="3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Կանխավարկածը համարում է, որ մինչև մարկետինգային արշավը այցելուների կայքում անցկացրած ժամանակի միջին տևողությունը չի փոխվել :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300"/>
              <a:t>Այլընտրանքային վարկածը ժխտում է կանխավարկածը:</a:t>
            </a:r>
            <a:endParaRPr sz="1300"/>
          </a:p>
        </p:txBody>
      </p:sp>
      <p:sp>
        <p:nvSpPr>
          <p:cNvPr id="93" name="Google Shape;93;p17"/>
          <p:cNvSpPr txBox="1"/>
          <p:nvPr/>
        </p:nvSpPr>
        <p:spPr>
          <a:xfrm>
            <a:off x="3720600" y="1433425"/>
            <a:ext cx="42582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H</a:t>
            </a:r>
            <a:r>
              <a:rPr b="1"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  </a:t>
            </a:r>
            <a:r>
              <a:rPr b="1" baseline="30000"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 </a:t>
            </a:r>
            <a:r>
              <a:rPr b="1"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µ </a:t>
            </a:r>
            <a:r>
              <a:rPr b="1"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= 120</a:t>
            </a:r>
            <a:endParaRPr b="1" sz="3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" name="Google Shape;94;p17"/>
          <p:cNvSpPr txBox="1"/>
          <p:nvPr/>
        </p:nvSpPr>
        <p:spPr>
          <a:xfrm>
            <a:off x="3836550" y="3077675"/>
            <a:ext cx="3899700" cy="10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H</a:t>
            </a:r>
            <a:r>
              <a:rPr b="1"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1      µ </a:t>
            </a:r>
            <a:r>
              <a:rPr b="1"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≠ 120</a:t>
            </a:r>
            <a:endParaRPr b="1" sz="24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type="title"/>
          </p:nvPr>
        </p:nvSpPr>
        <p:spPr>
          <a:xfrm>
            <a:off x="226075" y="137025"/>
            <a:ext cx="2808000" cy="117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Ընտրանքի չափը, ընտրանքի միջինը և ընտրանքի ստանդարտ շեղումը </a:t>
            </a:r>
            <a:endParaRPr sz="1800"/>
          </a:p>
        </p:txBody>
      </p:sp>
      <p:sp>
        <p:nvSpPr>
          <p:cNvPr id="100" name="Google Shape;100;p18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Ընտրանքի չափը / sample size</a:t>
            </a:r>
            <a:endParaRPr sz="15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500"/>
              <a:t>Ընտրանքի միջինը / sample mean</a:t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500"/>
              <a:t>Ը</a:t>
            </a:r>
            <a:r>
              <a:rPr lang="en" sz="1500"/>
              <a:t>նտրանքի ստանդարտ շեղումը / sample standard deviation</a:t>
            </a:r>
            <a:endParaRPr/>
          </a:p>
        </p:txBody>
      </p:sp>
      <p:sp>
        <p:nvSpPr>
          <p:cNvPr id="101" name="Google Shape;101;p18"/>
          <p:cNvSpPr txBox="1"/>
          <p:nvPr/>
        </p:nvSpPr>
        <p:spPr>
          <a:xfrm>
            <a:off x="4353000" y="1549375"/>
            <a:ext cx="2719200" cy="6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         </a:t>
            </a:r>
            <a:r>
              <a:rPr b="1" lang="en" sz="2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n = 81</a:t>
            </a:r>
            <a:endParaRPr b="1" sz="2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" name="Google Shape;102;p18"/>
          <p:cNvSpPr txBox="1"/>
          <p:nvPr/>
        </p:nvSpPr>
        <p:spPr>
          <a:xfrm>
            <a:off x="4447875" y="2245000"/>
            <a:ext cx="3815400" cy="5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50">
                <a:solidFill>
                  <a:srgbClr val="0A0A0A"/>
                </a:solidFill>
                <a:highlight>
                  <a:srgbClr val="FFFFFF"/>
                </a:highlight>
              </a:rPr>
              <a:t>Sample Mean</a:t>
            </a:r>
            <a:r>
              <a:rPr b="1" lang="en" sz="2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lang="en" sz="2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= 342</a:t>
            </a:r>
            <a:endParaRPr b="1" sz="2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" name="Google Shape;103;p18"/>
          <p:cNvSpPr txBox="1"/>
          <p:nvPr/>
        </p:nvSpPr>
        <p:spPr>
          <a:xfrm>
            <a:off x="5122425" y="3109300"/>
            <a:ext cx="1359600" cy="6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 = 154</a:t>
            </a:r>
            <a:endParaRPr b="1" sz="2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" name="Google Shape;104;p18"/>
          <p:cNvSpPr txBox="1"/>
          <p:nvPr/>
        </p:nvSpPr>
        <p:spPr>
          <a:xfrm>
            <a:off x="3530875" y="4648125"/>
            <a:ext cx="53754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r>
              <a:rPr lang="en" sz="18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https://drive.google.com/drive/home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/>
          <p:nvPr>
            <p:ph type="title"/>
          </p:nvPr>
        </p:nvSpPr>
        <p:spPr>
          <a:xfrm>
            <a:off x="226075" y="220775"/>
            <a:ext cx="2808000" cy="136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Նշանակալիության մակարդակ և համապատասխան կրիտիկական արժեք</a:t>
            </a:r>
            <a:endParaRPr sz="1800"/>
          </a:p>
        </p:txBody>
      </p:sp>
      <p:sp>
        <p:nvSpPr>
          <p:cNvPr id="110" name="Google Shape;110;p19"/>
          <p:cNvSpPr txBox="1"/>
          <p:nvPr>
            <p:ph idx="1" type="body"/>
          </p:nvPr>
        </p:nvSpPr>
        <p:spPr>
          <a:xfrm>
            <a:off x="226075" y="1739100"/>
            <a:ext cx="2808000" cy="323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Այս տվյալների համար ազդեցության նշանակալիության շեմը սահմանենք 95% վստահության միջակայքով: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0.05 նաշանակալիության մակարդակի դեպքում, երկպոչ թեստի պարագայում, որոշենք կրիտիկական արժեքը t-աղյուսակով / t-table ` ըստ </a:t>
            </a:r>
            <a:r>
              <a:rPr lang="en" sz="1300">
                <a:latin typeface="Arial"/>
                <a:ea typeface="Arial"/>
                <a:cs typeface="Arial"/>
                <a:sym typeface="Arial"/>
              </a:rPr>
              <a:t>⍺-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ի և ազատության աստիճանի df 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 *df = n-1 = 80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9"/>
          <p:cNvSpPr txBox="1"/>
          <p:nvPr/>
        </p:nvSpPr>
        <p:spPr>
          <a:xfrm>
            <a:off x="3594125" y="1855025"/>
            <a:ext cx="4121100" cy="9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                        </a:t>
            </a:r>
            <a:r>
              <a:rPr b="1" lang="en" sz="2800">
                <a:solidFill>
                  <a:schemeClr val="dk2"/>
                </a:solidFill>
              </a:rPr>
              <a:t>⍺</a:t>
            </a:r>
            <a:r>
              <a:rPr b="1" lang="en" sz="24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= 0.05</a:t>
            </a:r>
            <a:r>
              <a:rPr lang="en" sz="24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24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" name="Google Shape;112;p19"/>
          <p:cNvSpPr txBox="1"/>
          <p:nvPr/>
        </p:nvSpPr>
        <p:spPr>
          <a:xfrm>
            <a:off x="3762775" y="220775"/>
            <a:ext cx="5016900" cy="9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Ընտրում ենք երկկողմ թեստի մոդել (</a:t>
            </a:r>
            <a:r>
              <a:rPr b="1" lang="en" sz="1650">
                <a:solidFill>
                  <a:schemeClr val="dk2"/>
                </a:solidFill>
              </a:rPr>
              <a:t>two-tails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), քանի որ մեր նպատակը կանխավարկածը հերքելն է.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" name="Google Shape;113;p19"/>
          <p:cNvSpPr txBox="1"/>
          <p:nvPr/>
        </p:nvSpPr>
        <p:spPr>
          <a:xfrm>
            <a:off x="3920875" y="3415550"/>
            <a:ext cx="3699600" cy="9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Critical value:  </a:t>
            </a:r>
            <a:r>
              <a:rPr b="1" lang="en" sz="2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</a:t>
            </a:r>
            <a:r>
              <a:rPr b="1" lang="en" sz="1900">
                <a:solidFill>
                  <a:schemeClr val="dk2"/>
                </a:solidFill>
              </a:rPr>
              <a:t>⍺ </a:t>
            </a:r>
            <a:r>
              <a:rPr b="1" lang="en" sz="2400">
                <a:solidFill>
                  <a:schemeClr val="dk2"/>
                </a:solidFill>
              </a:rPr>
              <a:t>= 1.990</a:t>
            </a:r>
            <a:endParaRPr b="1" sz="24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  </a:t>
            </a: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     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0"/>
          <p:cNvSpPr txBox="1"/>
          <p:nvPr>
            <p:ph type="title"/>
          </p:nvPr>
        </p:nvSpPr>
        <p:spPr>
          <a:xfrm>
            <a:off x="311700" y="737800"/>
            <a:ext cx="8520600" cy="558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							</a:t>
            </a:r>
            <a:r>
              <a:rPr b="1" lang="en" sz="3200"/>
              <a:t>t</a:t>
            </a:r>
            <a:r>
              <a:rPr b="1" lang="en" sz="1800"/>
              <a:t>x  </a:t>
            </a:r>
            <a:r>
              <a:rPr b="1" lang="en" sz="2500"/>
              <a:t>= 13</a:t>
            </a:r>
            <a:endParaRPr b="1" sz="2500"/>
          </a:p>
        </p:txBody>
      </p:sp>
      <p:sp>
        <p:nvSpPr>
          <p:cNvPr id="119" name="Google Shape;119;p20"/>
          <p:cNvSpPr txBox="1"/>
          <p:nvPr>
            <p:ph idx="1" type="body"/>
          </p:nvPr>
        </p:nvSpPr>
        <p:spPr>
          <a:xfrm>
            <a:off x="475500" y="3046075"/>
            <a:ext cx="8222100" cy="193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b="1">
              <a:solidFill>
                <a:schemeClr val="dk2"/>
              </a:solidFill>
            </a:endParaRPr>
          </a:p>
        </p:txBody>
      </p:sp>
      <p:sp>
        <p:nvSpPr>
          <p:cNvPr id="120" name="Google Shape;120;p20"/>
          <p:cNvSpPr txBox="1"/>
          <p:nvPr/>
        </p:nvSpPr>
        <p:spPr>
          <a:xfrm>
            <a:off x="1180475" y="242425"/>
            <a:ext cx="6418800" cy="6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Հաշվենք 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թեստային վիճակագրությունը / </a:t>
            </a:r>
            <a:r>
              <a:rPr lang="en" sz="1700">
                <a:solidFill>
                  <a:srgbClr val="343A40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test statistic</a:t>
            </a:r>
            <a:endParaRPr sz="2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1" name="Google Shape;121;p20"/>
          <p:cNvSpPr txBox="1"/>
          <p:nvPr/>
        </p:nvSpPr>
        <p:spPr>
          <a:xfrm>
            <a:off x="1085625" y="1362763"/>
            <a:ext cx="6714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Համեմատենք` </a:t>
            </a:r>
            <a:r>
              <a:rPr b="1" lang="en" sz="2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</a:t>
            </a: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x</a:t>
            </a:r>
            <a:r>
              <a:rPr b="1" lang="en"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-ը  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և կրիտիկական արժեքը` </a:t>
            </a:r>
            <a:r>
              <a:rPr b="1" lang="en" sz="2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</a:t>
            </a:r>
            <a:r>
              <a:rPr b="1" lang="en" sz="1900">
                <a:solidFill>
                  <a:schemeClr val="dk2"/>
                </a:solidFill>
              </a:rPr>
              <a:t>⍺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2" name="Google Shape;122;p20"/>
          <p:cNvSpPr txBox="1"/>
          <p:nvPr/>
        </p:nvSpPr>
        <p:spPr>
          <a:xfrm>
            <a:off x="2571750" y="1978375"/>
            <a:ext cx="3667800" cy="10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         </a:t>
            </a:r>
            <a:r>
              <a:rPr b="1" lang="en" sz="2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</a:t>
            </a: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x      </a:t>
            </a:r>
            <a:r>
              <a:rPr b="1" lang="en" sz="2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&gt;</a:t>
            </a: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  </a:t>
            </a:r>
            <a:r>
              <a:rPr b="1" lang="en" sz="2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</a:t>
            </a:r>
            <a:r>
              <a:rPr b="1" lang="en" sz="1900">
                <a:solidFill>
                  <a:schemeClr val="dk2"/>
                </a:solidFill>
              </a:rPr>
              <a:t>⍺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     13   &gt;   1.990</a:t>
            </a:r>
            <a:endParaRPr b="1" sz="2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1"/>
          <p:cNvSpPr txBox="1"/>
          <p:nvPr>
            <p:ph idx="1" type="body"/>
          </p:nvPr>
        </p:nvSpPr>
        <p:spPr>
          <a:xfrm>
            <a:off x="475500" y="3565825"/>
            <a:ext cx="8222100" cy="103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Հետևաբար մարկետինգային արշավն ազդել է կայքի այցելուների վարքագծի վրա:</a:t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21"/>
          <p:cNvSpPr txBox="1"/>
          <p:nvPr/>
        </p:nvSpPr>
        <p:spPr>
          <a:xfrm>
            <a:off x="599175" y="299600"/>
            <a:ext cx="7828500" cy="7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                    Եզրակացություն</a:t>
            </a:r>
            <a:endParaRPr sz="3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9" name="Google Shape;129;p21"/>
          <p:cNvSpPr txBox="1"/>
          <p:nvPr/>
        </p:nvSpPr>
        <p:spPr>
          <a:xfrm>
            <a:off x="504875" y="1220125"/>
            <a:ext cx="8222100" cy="23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Այսպիսով. թեստի վիճակագրությունը (test statistic) նշանակալիորեն մեծ է կրիտիկական արժեքից, ուրեմն մեծ վստահությամբ կարող ենք հերքել կանխավարկածը` ասելով, որ կայքում այցելուների անցկացրած ժամանակի միջին տևողությունը 120 վրկ. չէ: 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2"/>
          <p:cNvSpPr txBox="1"/>
          <p:nvPr/>
        </p:nvSpPr>
        <p:spPr>
          <a:xfrm>
            <a:off x="475500" y="84325"/>
            <a:ext cx="8222100" cy="46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Որոշելու համար, թե արդյո՞ք արշավի արդյունքում այցելուներն ավելի երկար են կայքում մնում` վարկածները կլինեն 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457200" lvl="0" marL="2286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H</a:t>
            </a:r>
            <a:r>
              <a:rPr b="1" lang="en" sz="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 </a:t>
            </a:r>
            <a:r>
              <a:rPr b="1" lang="en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baseline="30000" lang="en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</a:t>
            </a: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µ </a:t>
            </a:r>
            <a:r>
              <a:rPr b="1" lang="en" sz="2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&lt;= 120, </a:t>
            </a:r>
            <a:endParaRPr b="1" sz="2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457200" lvl="0" marL="2286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H</a:t>
            </a:r>
            <a:r>
              <a:rPr b="1" lang="en" sz="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1  </a:t>
            </a:r>
            <a:r>
              <a:rPr b="1"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µ </a:t>
            </a:r>
            <a:r>
              <a:rPr b="1" lang="en" sz="2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&gt; 120</a:t>
            </a:r>
            <a:endParaRPr b="1" sz="2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Այս դեպքում ընտրում ենք աջակողմյան թեստ (</a:t>
            </a:r>
            <a:r>
              <a:rPr b="1" lang="en" sz="1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right-tailed test</a:t>
            </a:r>
            <a:r>
              <a:rPr lang="en" sz="1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), այսինքն նշանակալի ազդեցության տարածքը աջից է (</a:t>
            </a:r>
            <a:r>
              <a:rPr b="1" lang="en" sz="1900">
                <a:solidFill>
                  <a:schemeClr val="dk2"/>
                </a:solidFill>
              </a:rPr>
              <a:t>⍺</a:t>
            </a:r>
            <a:r>
              <a:rPr lang="en" sz="1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): Կրիտիկական արժեքը փոխվում է.   </a:t>
            </a: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1.664</a:t>
            </a:r>
            <a:endParaRPr b="1" sz="1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             </a:t>
            </a:r>
            <a:endParaRPr sz="17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Համեմատենք` </a:t>
            </a:r>
            <a:r>
              <a:rPr b="1" lang="en" sz="2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</a:t>
            </a:r>
            <a:r>
              <a:rPr b="1" lang="en" sz="1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x</a:t>
            </a:r>
            <a:r>
              <a:rPr b="1"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-ը  </a:t>
            </a:r>
            <a:r>
              <a:rPr lang="en" sz="1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և կրիտիկական արժեքը` </a:t>
            </a:r>
            <a:r>
              <a:rPr b="1" lang="en" sz="2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</a:t>
            </a:r>
            <a:r>
              <a:rPr b="1" lang="en" sz="1800">
                <a:solidFill>
                  <a:schemeClr val="dk2"/>
                </a:solidFill>
              </a:rPr>
              <a:t>⍺</a:t>
            </a: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</a:t>
            </a:r>
            <a:endParaRPr b="1"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                                                </a:t>
            </a:r>
            <a:r>
              <a:rPr b="1" lang="en" sz="2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</a:t>
            </a: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x      </a:t>
            </a:r>
            <a:r>
              <a:rPr b="1" lang="en" sz="2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&gt;</a:t>
            </a: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  </a:t>
            </a:r>
            <a:r>
              <a:rPr b="1" lang="en" sz="2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</a:t>
            </a:r>
            <a:r>
              <a:rPr b="1" lang="en" sz="1900">
                <a:solidFill>
                  <a:schemeClr val="dk2"/>
                </a:solidFill>
              </a:rPr>
              <a:t>⍺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                                 13   &gt;   1.664</a:t>
            </a:r>
            <a:endParaRPr b="1"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3"/>
          <p:cNvSpPr txBox="1"/>
          <p:nvPr>
            <p:ph idx="1" type="body"/>
          </p:nvPr>
        </p:nvSpPr>
        <p:spPr>
          <a:xfrm>
            <a:off x="475500" y="3565825"/>
            <a:ext cx="8222100" cy="103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Հետևաբար մարկետինգային արշավն արդյունավետ է եղել: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23"/>
          <p:cNvSpPr txBox="1"/>
          <p:nvPr/>
        </p:nvSpPr>
        <p:spPr>
          <a:xfrm>
            <a:off x="599175" y="299600"/>
            <a:ext cx="7828500" cy="7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                    Եզրակացություն</a:t>
            </a:r>
            <a:endParaRPr sz="3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1" name="Google Shape;141;p23"/>
          <p:cNvSpPr txBox="1"/>
          <p:nvPr/>
        </p:nvSpPr>
        <p:spPr>
          <a:xfrm>
            <a:off x="504875" y="1220125"/>
            <a:ext cx="8222100" cy="19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Այսպիսով. թեստի վիճակագրությունը (test statistic) նշանակալիորեն մեծ է կրիտիկական արժեքից, ուրեմն մեծ վստահությամբ կարող ենք հերքել կանխավարկածը` ասելով, որ կայքում այցելուների անցկացրած ժամանակի միջին տևողությունը մեծացել է: </a:t>
            </a:r>
            <a:endParaRPr b="1"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4"/>
          <p:cNvSpPr txBox="1"/>
          <p:nvPr>
            <p:ph type="title"/>
          </p:nvPr>
        </p:nvSpPr>
        <p:spPr>
          <a:xfrm>
            <a:off x="490250" y="488250"/>
            <a:ext cx="7910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      Շնորհակալություն</a:t>
            </a:r>
            <a:endParaRPr sz="4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